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10077450" cy="5668963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363240"/>
            <a:ext cx="9068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3640" y="1326240"/>
            <a:ext cx="90680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08A6F2-6422-4E77-A68F-94DF25E95B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363240"/>
            <a:ext cx="9068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680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2AD039B-0F47-41E8-B5A1-0F19371823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640" y="363240"/>
            <a:ext cx="9068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04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5920" y="5164560"/>
            <a:ext cx="319320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4840" y="5164560"/>
            <a:ext cx="234684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ADCFEFD-1830-4FB0-AE79-3E0ED51047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3640" y="5164560"/>
            <a:ext cx="234684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363240"/>
            <a:ext cx="9068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4"/>
          </p:nvPr>
        </p:nvSpPr>
        <p:spPr>
          <a:xfrm>
            <a:off x="3445920" y="5164560"/>
            <a:ext cx="319320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5"/>
          </p:nvPr>
        </p:nvSpPr>
        <p:spPr>
          <a:xfrm>
            <a:off x="7224840" y="5164560"/>
            <a:ext cx="234684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ABC825D-5F88-48E9-A4A6-5D2C4986795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6"/>
          </p:nvPr>
        </p:nvSpPr>
        <p:spPr>
          <a:xfrm>
            <a:off x="503640" y="5164560"/>
            <a:ext cx="234684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68760" cy="32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hyperlink" Target="mailto:nemihail02@gmail.com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21000">
              <a:srgbClr val="AB47BC"/>
            </a:gs>
            <a:gs pos="100000">
              <a:srgbClr val="1976D2"/>
            </a:gs>
          </a:gsLst>
          <a:lin ang="432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>
            <a:off x="457200" y="1449360"/>
            <a:ext cx="4000320" cy="1713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17" name=""/>
          <p:cNvSpPr/>
          <p:nvPr/>
        </p:nvSpPr>
        <p:spPr>
          <a:xfrm>
            <a:off x="585000" y="1599840"/>
            <a:ext cx="42022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Sma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rt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pars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457200" y="3354120"/>
            <a:ext cx="328788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Итоговый </a:t>
            </a: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проект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по </a:t>
            </a: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информатике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457200" y="4294800"/>
            <a:ext cx="381348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DejaVu Sans"/>
              </a:rPr>
              <a:t>Шулепов Михаил Егорович, </a:t>
            </a: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DejaVu Sans"/>
              </a:rPr>
              <a:t>ИЭ-71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4713120" y="1541520"/>
            <a:ext cx="3287880" cy="14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Центр </a:t>
            </a: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талантов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Montserrat SemiBold"/>
                <a:ea typeface="DejaVu Sans"/>
              </a:rPr>
              <a:t>“Кемерово”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DejaVu Sans"/>
              </a:rPr>
              <a:t>2026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228600" y="300600"/>
            <a:ext cx="6400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Опи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сан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ие 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про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бле</a:t>
            </a: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мы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36600" y="1287000"/>
            <a:ext cx="2971080" cy="4114080"/>
          </a:xfrm>
          <a:custGeom>
            <a:avLst/>
            <a:gdLst>
              <a:gd name="textAreaLeft" fmla="*/ 145080 w 2971080"/>
              <a:gd name="textAreaRight" fmla="*/ 2826720 w 2971080"/>
              <a:gd name="textAreaTop" fmla="*/ 145080 h 4114080"/>
              <a:gd name="textAreaBottom" fmla="*/ 3969720 h 4114080"/>
            </a:gdLst>
            <a:ahLst/>
            <a:cxnLst/>
            <a:rect l="textAreaLeft" t="textAreaTop" r="textAreaRight" b="textAreaBottom"/>
            <a:pathLst>
              <a:path w="21600" h="29907">
                <a:moveTo>
                  <a:pt x="3600" y="0"/>
                </a:moveTo>
                <a:arcTo wR="3600" hR="3600" stAng="16200000" swAng="-5400000"/>
                <a:lnTo>
                  <a:pt x="0" y="26307"/>
                </a:lnTo>
                <a:arcTo wR="3600" hR="3600" stAng="10800000" swAng="-5400000"/>
                <a:lnTo>
                  <a:pt x="18000" y="2990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840000"/>
          </a:gradFill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23" name=""/>
          <p:cNvSpPr/>
          <p:nvPr/>
        </p:nvSpPr>
        <p:spPr>
          <a:xfrm>
            <a:off x="390240" y="3264840"/>
            <a:ext cx="2777040" cy="17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Сложность в поиске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товаров для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оптового/розничного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закупа, сравнении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и выборе нужной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позиции.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685800" y="1600200"/>
            <a:ext cx="2285280" cy="13708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pic>
        <p:nvPicPr>
          <p:cNvPr id="25" name=""/>
          <p:cNvPicPr/>
          <p:nvPr/>
        </p:nvPicPr>
        <p:blipFill>
          <a:blip r:embed="rId1"/>
          <a:stretch/>
        </p:blipFill>
        <p:spPr>
          <a:xfrm>
            <a:off x="1371600" y="1828800"/>
            <a:ext cx="837000" cy="837000"/>
          </a:xfrm>
          <a:prstGeom prst="rect">
            <a:avLst/>
          </a:prstGeom>
          <a:noFill/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</p:pic>
      <p:sp>
        <p:nvSpPr>
          <p:cNvPr id="26" name=""/>
          <p:cNvSpPr/>
          <p:nvPr/>
        </p:nvSpPr>
        <p:spPr>
          <a:xfrm>
            <a:off x="3540960" y="1287000"/>
            <a:ext cx="2971080" cy="4114080"/>
          </a:xfrm>
          <a:custGeom>
            <a:avLst/>
            <a:gdLst>
              <a:gd name="textAreaLeft" fmla="*/ 145080 w 2971080"/>
              <a:gd name="textAreaRight" fmla="*/ 2826720 w 2971080"/>
              <a:gd name="textAreaTop" fmla="*/ 145080 h 4114080"/>
              <a:gd name="textAreaBottom" fmla="*/ 3969720 h 4114080"/>
            </a:gdLst>
            <a:ahLst/>
            <a:cxnLst/>
            <a:rect l="textAreaLeft" t="textAreaTop" r="textAreaRight" b="textAreaBottom"/>
            <a:pathLst>
              <a:path w="21600" h="29907">
                <a:moveTo>
                  <a:pt x="3600" y="0"/>
                </a:moveTo>
                <a:arcTo wR="3600" hR="3600" stAng="16200000" swAng="-5400000"/>
                <a:lnTo>
                  <a:pt x="0" y="26307"/>
                </a:lnTo>
                <a:arcTo wR="3600" hR="3600" stAng="10800000" swAng="-5400000"/>
                <a:lnTo>
                  <a:pt x="18000" y="2990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840000"/>
          </a:gradFill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27" name=""/>
          <p:cNvSpPr/>
          <p:nvPr/>
        </p:nvSpPr>
        <p:spPr>
          <a:xfrm>
            <a:off x="3889800" y="1600200"/>
            <a:ext cx="2285280" cy="13708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28" name=""/>
          <p:cNvSpPr/>
          <p:nvPr/>
        </p:nvSpPr>
        <p:spPr>
          <a:xfrm>
            <a:off x="3657600" y="3429000"/>
            <a:ext cx="2742480" cy="17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Отсутствие централизованной системы отбора, фильтрации товаров и торговли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2"/>
          <a:stretch/>
        </p:blipFill>
        <p:spPr>
          <a:xfrm>
            <a:off x="4572000" y="1828800"/>
            <a:ext cx="837000" cy="837000"/>
          </a:xfrm>
          <a:prstGeom prst="rect">
            <a:avLst/>
          </a:prstGeom>
          <a:noFill/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</p:pic>
      <p:sp>
        <p:nvSpPr>
          <p:cNvPr id="30" name=""/>
          <p:cNvSpPr/>
          <p:nvPr/>
        </p:nvSpPr>
        <p:spPr>
          <a:xfrm>
            <a:off x="6745320" y="1287000"/>
            <a:ext cx="2971080" cy="4114080"/>
          </a:xfrm>
          <a:custGeom>
            <a:avLst/>
            <a:gdLst>
              <a:gd name="textAreaLeft" fmla="*/ 145080 w 2971080"/>
              <a:gd name="textAreaRight" fmla="*/ 2826720 w 2971080"/>
              <a:gd name="textAreaTop" fmla="*/ 145080 h 4114080"/>
              <a:gd name="textAreaBottom" fmla="*/ 3969720 h 4114080"/>
            </a:gdLst>
            <a:ahLst/>
            <a:cxnLst/>
            <a:rect l="textAreaLeft" t="textAreaTop" r="textAreaRight" b="textAreaBottom"/>
            <a:pathLst>
              <a:path w="21600" h="29907">
                <a:moveTo>
                  <a:pt x="3600" y="0"/>
                </a:moveTo>
                <a:arcTo wR="3600" hR="3600" stAng="16200000" swAng="-5400000"/>
                <a:lnTo>
                  <a:pt x="0" y="26307"/>
                </a:lnTo>
                <a:arcTo wR="3600" hR="3600" stAng="10800000" swAng="-5400000"/>
                <a:lnTo>
                  <a:pt x="18000" y="2990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840000"/>
          </a:gradFill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31" name=""/>
          <p:cNvSpPr/>
          <p:nvPr/>
        </p:nvSpPr>
        <p:spPr>
          <a:xfrm>
            <a:off x="7086600" y="1600200"/>
            <a:ext cx="2285280" cy="137088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pic>
        <p:nvPicPr>
          <p:cNvPr id="32" name=""/>
          <p:cNvPicPr/>
          <p:nvPr/>
        </p:nvPicPr>
        <p:blipFill>
          <a:blip r:embed="rId3"/>
          <a:stretch/>
        </p:blipFill>
        <p:spPr>
          <a:xfrm>
            <a:off x="7772400" y="1828800"/>
            <a:ext cx="913680" cy="913680"/>
          </a:xfrm>
          <a:prstGeom prst="rect">
            <a:avLst/>
          </a:prstGeom>
          <a:noFill/>
          <a:ln w="0">
            <a:noFill/>
          </a:ln>
          <a:effectLst>
            <a:outerShdw dist="102841" dir="2700000" blurRad="127080" rotWithShape="0">
              <a:srgbClr val="808080">
                <a:alpha val="90000"/>
              </a:srgbClr>
            </a:outerShdw>
          </a:effectLst>
        </p:spPr>
      </p:pic>
      <p:sp>
        <p:nvSpPr>
          <p:cNvPr id="33" name=""/>
          <p:cNvSpPr/>
          <p:nvPr/>
        </p:nvSpPr>
        <p:spPr>
          <a:xfrm>
            <a:off x="6861600" y="3429360"/>
            <a:ext cx="2742480" cy="17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AFAFA"/>
                </a:solidFill>
                <a:effectLst/>
                <a:uFillTx/>
                <a:latin typeface="Montserrat Medium"/>
                <a:ea typeface="DejaVu Sans"/>
              </a:rPr>
              <a:t>Необходимость в ведени отчетов, рапортов и учете финансов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457200" y="2286000"/>
            <a:ext cx="66290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57560" y="2286000"/>
            <a:ext cx="205668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228600" y="214560"/>
            <a:ext cx="7543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Существующие решения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57200" y="4572000"/>
            <a:ext cx="66290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57200" y="3429000"/>
            <a:ext cx="66290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57200" y="1143000"/>
            <a:ext cx="6629040" cy="914040"/>
          </a:xfrm>
          <a:prstGeom prst="roundRect">
            <a:avLst>
              <a:gd name="adj" fmla="val 16667"/>
            </a:avLst>
          </a:prstGeom>
          <a:gradFill rotWithShape="0">
            <a:gsLst>
              <a:gs pos="12000">
                <a:srgbClr val="AB47BC"/>
              </a:gs>
              <a:gs pos="100000">
                <a:srgbClr val="1976D2"/>
              </a:gs>
            </a:gsLst>
            <a:lin ang="3960000"/>
          </a:gra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Montserrat ExtraBold"/>
                <a:ea typeface="DejaVu Sans"/>
              </a:rPr>
              <a:t>Решение                   Плюсы               Ограничения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313200" y="2370600"/>
            <a:ext cx="2285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SemiBold"/>
              </a:rPr>
              <a:t>Агрегаторы (Яндекс.маркет,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SemiBold"/>
              </a:rPr>
              <a:t>price.ru)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58280" y="3429000"/>
            <a:ext cx="205668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57800" y="3621600"/>
            <a:ext cx="152784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SemiBold"/>
              </a:rPr>
              <a:t>Мониторинги цен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58280" y="4572000"/>
            <a:ext cx="205668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0">
            <a:noFill/>
          </a:ln>
          <a:effectLst>
            <a:outerShdw dist="51420" dir="2700000" blurRad="127080" rotWithShape="0">
              <a:srgbClr val="808080">
                <a:alpha val="9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770400" y="4852440"/>
            <a:ext cx="228564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SemiBold"/>
              </a:rPr>
              <a:t>Ручной поиск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2586600" y="2357280"/>
            <a:ext cx="2285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Официальные данные, удобный интерфейс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4921200" y="2358000"/>
            <a:ext cx="22856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Только через API, ограничено площадками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743200" y="3598200"/>
            <a:ext cx="1828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Точечный контроль цен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5029200" y="3598200"/>
            <a:ext cx="1828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Узкая специализация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743200" y="3598560"/>
            <a:ext cx="1828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Точечный контроль цен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743200" y="4644000"/>
            <a:ext cx="1828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Гибкость в отдельных случаях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029200" y="4741200"/>
            <a:ext cx="182880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Низкая скорость, ошибки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228960" y="214560"/>
            <a:ext cx="7543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Как это работает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6780960" y="4572000"/>
            <a:ext cx="2134440" cy="3693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ExtraBold"/>
              </a:rPr>
              <a:t>GitHub проекта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/>
          <p:cNvPicPr/>
          <p:nvPr/>
        </p:nvPicPr>
        <p:blipFill>
          <a:blip r:embed="rId1"/>
          <a:stretch/>
        </p:blipFill>
        <p:spPr>
          <a:xfrm>
            <a:off x="457200" y="1371600"/>
            <a:ext cx="685800" cy="685800"/>
          </a:xfrm>
          <a:prstGeom prst="rect">
            <a:avLst/>
          </a:prstGeom>
          <a:noFill/>
          <a:ln w="0">
            <a:noFill/>
          </a:ln>
          <a:effectLst>
            <a:outerShdw dist="77385" dir="2700000" blurRad="127080" rotWithShape="0">
              <a:srgbClr val="808080">
                <a:alpha val="95000"/>
              </a:srgbClr>
            </a:outerShdw>
          </a:effectLst>
        </p:spPr>
      </p:pic>
      <p:sp>
        <p:nvSpPr>
          <p:cNvPr id="55" name=""/>
          <p:cNvSpPr txBox="1"/>
          <p:nvPr/>
        </p:nvSpPr>
        <p:spPr>
          <a:xfrm>
            <a:off x="228600" y="1143000"/>
            <a:ext cx="1600200" cy="37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иконка питона если что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68560" y="1517040"/>
            <a:ext cx="4546440" cy="6483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Python + requests + BeautifulSoup4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"/>
          <p:cNvPicPr/>
          <p:nvPr/>
        </p:nvPicPr>
        <p:blipFill>
          <a:blip r:embed="rId2"/>
          <a:stretch/>
        </p:blipFill>
        <p:spPr>
          <a:xfrm>
            <a:off x="457200" y="2514600"/>
            <a:ext cx="685800" cy="685800"/>
          </a:xfrm>
          <a:prstGeom prst="rect">
            <a:avLst/>
          </a:prstGeom>
          <a:noFill/>
          <a:ln w="0">
            <a:noFill/>
          </a:ln>
          <a:effectLst>
            <a:outerShdw dist="77385" dir="2700000" blurRad="127080" rotWithShape="0">
              <a:srgbClr val="808080">
                <a:alpha val="95000"/>
              </a:srgbClr>
            </a:outerShdw>
          </a:effectLst>
        </p:spPr>
      </p:pic>
      <p:sp>
        <p:nvSpPr>
          <p:cNvPr id="58" name=""/>
          <p:cNvSpPr txBox="1"/>
          <p:nvPr/>
        </p:nvSpPr>
        <p:spPr>
          <a:xfrm>
            <a:off x="1168560" y="2514600"/>
            <a:ext cx="454644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Один запрос – поиск на выбраных маркетплейсах,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фильтрация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"/>
          <p:cNvPicPr/>
          <p:nvPr/>
        </p:nvPicPr>
        <p:blipFill>
          <a:blip r:embed="rId3"/>
          <a:stretch/>
        </p:blipFill>
        <p:spPr>
          <a:xfrm>
            <a:off x="381240" y="3581640"/>
            <a:ext cx="761760" cy="761760"/>
          </a:xfrm>
          <a:prstGeom prst="rect">
            <a:avLst/>
          </a:prstGeom>
          <a:noFill/>
          <a:ln w="0">
            <a:noFill/>
          </a:ln>
          <a:effectLst>
            <a:outerShdw dist="77385" dir="2700000" blurRad="127080" rotWithShape="0">
              <a:srgbClr val="808080">
                <a:alpha val="95000"/>
              </a:srgbClr>
            </a:outerShdw>
          </a:effectLst>
        </p:spPr>
      </p:pic>
      <p:sp>
        <p:nvSpPr>
          <p:cNvPr id="60" name=""/>
          <p:cNvSpPr txBox="1"/>
          <p:nvPr/>
        </p:nvSpPr>
        <p:spPr>
          <a:xfrm>
            <a:off x="1168560" y="3657600"/>
            <a:ext cx="454644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Автоматические отчёты, статистика, данные в 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.csv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 файле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4"/>
          <a:stretch/>
        </p:blipFill>
        <p:spPr>
          <a:xfrm>
            <a:off x="5871600" y="685800"/>
            <a:ext cx="3886200" cy="3886200"/>
          </a:xfrm>
          <a:prstGeom prst="rect">
            <a:avLst/>
          </a:prstGeom>
          <a:noFill/>
          <a:ln w="0">
            <a:noFill/>
          </a:ln>
          <a:effectLst>
            <a:outerShdw dist="77385" dir="2700000" blurRad="127080" rotWithShape="0">
              <a:srgbClr val="808080">
                <a:alpha val="95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229320" y="214560"/>
            <a:ext cx="4799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Montserrat Black"/>
                <a:ea typeface="DejaVu Sans"/>
              </a:rPr>
              <a:t>Кому это нужно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41800" y="1215000"/>
            <a:ext cx="3657600" cy="18288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600000"/>
          </a:gradFill>
          <a:ln w="0">
            <a:noFill/>
          </a:ln>
          <a:effectLst>
            <a:outerShdw dist="77385" dir="2700000" blurRad="254160" rotWithShape="0">
              <a:srgbClr val="808080">
                <a:alpha val="9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Montserrat ExtraBold"/>
              </a:rPr>
              <a:t>В2В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Оптовики, торговые сети -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Автоматизация закупок, сравнительный анализ поставщиков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64" name=""/>
          <p:cNvSpPr/>
          <p:nvPr/>
        </p:nvSpPr>
        <p:spPr>
          <a:xfrm>
            <a:off x="541800" y="3272400"/>
            <a:ext cx="3657600" cy="18288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600000"/>
          </a:gradFill>
          <a:ln w="0">
            <a:noFill/>
          </a:ln>
          <a:effectLst>
            <a:outerShdw dist="77385" dir="2700000" blurRad="254160" rotWithShape="0">
              <a:srgbClr val="808080">
                <a:alpha val="9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Montserrat ExtraBold"/>
              </a:rPr>
              <a:t>В2C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Пользователи, желающие быстро найти товар по набору характеристик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Medium"/>
            </a:endParaRPr>
          </a:p>
        </p:txBody>
      </p:sp>
      <p:sp>
        <p:nvSpPr>
          <p:cNvPr id="65" name=""/>
          <p:cNvSpPr/>
          <p:nvPr/>
        </p:nvSpPr>
        <p:spPr>
          <a:xfrm>
            <a:off x="5029200" y="0"/>
            <a:ext cx="5084280" cy="5943600"/>
          </a:xfrm>
          <a:prstGeom prst="rect">
            <a:avLst/>
          </a:prstGeom>
          <a:gradFill rotWithShape="0">
            <a:gsLst>
              <a:gs pos="0">
                <a:srgbClr val="AB47BC"/>
              </a:gs>
              <a:gs pos="100000">
                <a:srgbClr val="1976D2"/>
              </a:gs>
            </a:gsLst>
            <a:lin ang="3600000"/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943600" y="1215000"/>
            <a:ext cx="3429000" cy="175680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Montserrat ExtraBold"/>
              </a:rPr>
              <a:t>Монетизация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Подписка для бизнеса, платные расширеные фильтры, платный отчет покупок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943600" y="3200400"/>
            <a:ext cx="3429000" cy="18295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r>
              <a:rPr lang="en-US" sz="2100" b="0" u="none" strike="noStrike">
                <a:solidFill>
                  <a:srgbClr val="000000"/>
                </a:solidFill>
                <a:effectLst/>
                <a:uFillTx/>
                <a:latin typeface="Montserrat ExtraBold"/>
              </a:rPr>
              <a:t>Рынок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Medium"/>
              </a:rPr>
              <a:t>Рост e-commerce, высокий спрос на автоматизацию закупа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715720" y="215280"/>
            <a:ext cx="36568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4000" b="0" u="none" strike="noStrike">
                <a:solidFill>
                  <a:srgbClr val="FAFAFA"/>
                </a:solidFill>
                <a:effectLst/>
                <a:uFillTx/>
                <a:latin typeface="Montserrat Black"/>
                <a:ea typeface="DejaVu Sans"/>
              </a:rPr>
              <a:t>Экономика</a:t>
            </a:r>
            <a:endParaRPr lang="en-US" sz="4000" b="0" u="none" strike="noStrike">
              <a:solidFill>
                <a:srgbClr val="FAFAFA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1551240" y="2286000"/>
            <a:ext cx="6975000" cy="4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3512880" y="3237840"/>
            <a:ext cx="3051360" cy="64836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Montserrat ExtraBold"/>
                <a:hlinkClick r:id="rId2"/>
              </a:rPr>
              <a:t>nemihail02@gmail.com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ExtraBold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Montserrat Extra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Application>LibreOffice/26.2.2.2$Linux_X86_64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2026-03-17T11:06:26Z</dcterms:created>
  <dc:creator/>
  <dc:description/>
  <dc:language>en-US</dc:language>
  <cp:lastModifiedBy/>
  <cp:lastPrinted>2026-04-10T19:57:38Z</cp:lastPrinted>
  <dcterms:modified xsi:type="dcterms:W3CDTF">2026-04-10T19:57:11Z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